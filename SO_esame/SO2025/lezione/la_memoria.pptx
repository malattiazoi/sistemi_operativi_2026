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58" r:id="rId5"/>
    <p:sldId id="259" r:id="rId6"/>
    <p:sldId id="260" r:id="rId7"/>
    <p:sldId id="261" r:id="rId8"/>
    <p:sldId id="262" r:id="rId9"/>
    <p:sldId id="266" r:id="rId10"/>
    <p:sldId id="267" r:id="rId11"/>
    <p:sldId id="264" r:id="rId1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69BC23-7E85-3F27-349A-6BB8B272E106}"/>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B99D4955-80E7-B868-E515-A7F511D6BA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A481B3D-90D7-6306-ECE2-9F26C60E7076}"/>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08A852C0-9AF8-0237-9417-FFE0A2CD513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CEF673F-D266-9DE4-43B1-999435271F8E}"/>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7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0D02F9-7F95-DBEA-E974-BD4335314A0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0134903-DED1-3DA6-0B34-C662F95A577D}"/>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0997187-991D-CBC7-B929-71312071E711}"/>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4BEF0A6B-4F6F-B6E3-74FB-C1262EDA37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66CC276-48FF-A9B5-90D8-E3CAFE45CBB3}"/>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9218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18B0D2-514D-AF78-B49A-73EB5A48F135}"/>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126851F-A77B-3DBB-F6EB-2803231DF8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2328D07-5867-C275-E8ED-561D9BA07EA6}"/>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B0E1EFAB-B106-C92B-DBEE-241C6EF7E08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D1A7C05-6B9B-FAC6-C30C-B20F7817975B}"/>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3451535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50ABC8-6612-A052-8850-78893B29117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6DB0FFB-E4A4-8778-4A81-F87B34B7DD7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E7AEDD4-EA77-FC15-2A77-6F16418BA642}"/>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96A300C-F095-3F63-DD60-2ADBC186E5BF}"/>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6" name="Segnaposto piè di pagina 5">
            <a:extLst>
              <a:ext uri="{FF2B5EF4-FFF2-40B4-BE49-F238E27FC236}">
                <a16:creationId xmlns:a16="http://schemas.microsoft.com/office/drawing/2014/main" id="{514BDE6C-037B-9CBC-F1A7-E170072CA5C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833AFF9-D971-C83E-25EA-6019CC1DF650}"/>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2889258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5E80DD-6F8E-F6FC-B8F1-69823C5086C4}"/>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B07315A-F601-4966-359D-9D2C074DF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1BF6A0F-814D-2EAD-2F27-2A75EBE1592B}"/>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92D18333-064B-1C00-73B2-448ECA02C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2FB4CB5E-F16F-485B-A415-7C412515129B}"/>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9FC4D56B-385E-B39D-C24E-B1F9BDFE62EC}"/>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8" name="Segnaposto piè di pagina 7">
            <a:extLst>
              <a:ext uri="{FF2B5EF4-FFF2-40B4-BE49-F238E27FC236}">
                <a16:creationId xmlns:a16="http://schemas.microsoft.com/office/drawing/2014/main" id="{FC67920A-49D9-BFF1-155D-4AB0E57EA89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8DA4272-724A-49A1-A1E7-DDDB50835137}"/>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1269606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97066F-B6B8-BF7C-DECC-CAB4004D02F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6E25DF9-AC0E-1326-1BAE-C38C764C684D}"/>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4" name="Segnaposto piè di pagina 3">
            <a:extLst>
              <a:ext uri="{FF2B5EF4-FFF2-40B4-BE49-F238E27FC236}">
                <a16:creationId xmlns:a16="http://schemas.microsoft.com/office/drawing/2014/main" id="{9E7E2248-59A7-A4F3-6AAE-D623F1FFC76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E339DDC-9D68-57AB-802F-331EE44B0EC5}"/>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196069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D7A6C76-3EEA-9055-0915-25CA6F393C98}"/>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3" name="Segnaposto piè di pagina 2">
            <a:extLst>
              <a:ext uri="{FF2B5EF4-FFF2-40B4-BE49-F238E27FC236}">
                <a16:creationId xmlns:a16="http://schemas.microsoft.com/office/drawing/2014/main" id="{893C9905-43BE-D0BB-B0E8-D8C93B81534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03156949-CADC-487D-D7AB-35062089EDFE}"/>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555663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529576-1FF4-E67E-BED8-4CF12DE49D0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B0E372F-3534-E766-1A6C-A746F65919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F8047B7-EFC8-DA56-363D-7D298B96E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B63B85F-5508-48D7-6FC6-131CDC327763}"/>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6" name="Segnaposto piè di pagina 5">
            <a:extLst>
              <a:ext uri="{FF2B5EF4-FFF2-40B4-BE49-F238E27FC236}">
                <a16:creationId xmlns:a16="http://schemas.microsoft.com/office/drawing/2014/main" id="{1F39A2B9-F505-B20D-8D87-AED534B18E9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DD85846-3929-3B52-7E8F-48764E579632}"/>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1186015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3F1DEC-6CAF-A9E9-D103-6DB678CAFB9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7C873AE-E64D-1529-0E92-82C8F38A2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ACE1C1-811B-CCB4-C5B3-30E6BBEBF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F969AAD-5FF1-D5EF-6D4F-780E3976A24A}"/>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6" name="Segnaposto piè di pagina 5">
            <a:extLst>
              <a:ext uri="{FF2B5EF4-FFF2-40B4-BE49-F238E27FC236}">
                <a16:creationId xmlns:a16="http://schemas.microsoft.com/office/drawing/2014/main" id="{8D542AFC-BC70-34DD-5252-05932D5A048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EB5F736-C88B-FA9A-9490-39C1871956E0}"/>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4035598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E394B9-EDC5-76B4-8188-0E6439C14524}"/>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DCDC2AB-65E3-876E-5248-634D9C3BFA0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628C659-53FB-88D4-D23C-9FA5AD892E0A}"/>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9617442C-A29C-CDF1-6D3F-130A8BF7E73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040F3AC-FE21-C38E-92E3-279F2A7DCF7F}"/>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63678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B50AB1A3-27C9-CBD4-8C5F-64D21C2D2438}"/>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F38B859-D287-FBDA-AD19-398AF679D2F9}"/>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9D4E0A4-DDA2-7FF6-DEA2-A7575EF7E59B}"/>
              </a:ext>
            </a:extLst>
          </p:cNvPr>
          <p:cNvSpPr>
            <a:spLocks noGrp="1"/>
          </p:cNvSpPr>
          <p:nvPr>
            <p:ph type="dt" sz="half" idx="10"/>
          </p:nvPr>
        </p:nvSpPr>
        <p:spPr/>
        <p:txBody>
          <a:body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7320480E-26C7-FAA4-F77E-F635CC886E2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A4FC690-9008-5868-0CBB-0F1A4B4F9DAD}"/>
              </a:ext>
            </a:extLst>
          </p:cNvPr>
          <p:cNvSpPr>
            <a:spLocks noGrp="1"/>
          </p:cNvSpPr>
          <p:nvPr>
            <p:ph type="sldNum" sz="quarter" idx="12"/>
          </p:nvPr>
        </p:nvSpPr>
        <p:spPr/>
        <p:txBody>
          <a:bodyPr/>
          <a:lstStyle/>
          <a:p>
            <a:fld id="{3E861D0B-F4E2-4B49-AD94-8750E0F84877}" type="slidenum">
              <a:rPr lang="it-IT" smtClean="0"/>
              <a:t>‹N›</a:t>
            </a:fld>
            <a:endParaRPr lang="it-IT"/>
          </a:p>
        </p:txBody>
      </p:sp>
    </p:spTree>
    <p:extLst>
      <p:ext uri="{BB962C8B-B14F-4D97-AF65-F5344CB8AC3E}">
        <p14:creationId xmlns:p14="http://schemas.microsoft.com/office/powerpoint/2010/main" val="210190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11C215-A13C-4B89-A270-1397318333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DA51F91-B9F7-7BFD-E58C-554AA6195F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ED4EB08-7D02-8764-1CF6-864A6A2717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76C52E-C74C-4F84-A6CB-8C15418805BA}" type="datetimeFigureOut">
              <a:rPr lang="it-IT" smtClean="0"/>
              <a:t>03/12/2025</a:t>
            </a:fld>
            <a:endParaRPr lang="it-IT"/>
          </a:p>
        </p:txBody>
      </p:sp>
      <p:sp>
        <p:nvSpPr>
          <p:cNvPr id="5" name="Segnaposto piè di pagina 4">
            <a:extLst>
              <a:ext uri="{FF2B5EF4-FFF2-40B4-BE49-F238E27FC236}">
                <a16:creationId xmlns:a16="http://schemas.microsoft.com/office/drawing/2014/main" id="{35FCFB39-205F-C0EB-EB58-5FE3533393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53D233FA-BC6C-A5AF-27F9-E7F35C242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861D0B-F4E2-4B49-AD94-8750E0F84877}" type="slidenum">
              <a:rPr lang="it-IT" smtClean="0"/>
              <a:t>‹N›</a:t>
            </a:fld>
            <a:endParaRPr lang="it-IT"/>
          </a:p>
        </p:txBody>
      </p:sp>
    </p:spTree>
    <p:extLst>
      <p:ext uri="{BB962C8B-B14F-4D97-AF65-F5344CB8AC3E}">
        <p14:creationId xmlns:p14="http://schemas.microsoft.com/office/powerpoint/2010/main" val="3102955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911CADC6-CAB5-4045-947B-B6B3D0380088}"/>
              </a:ext>
            </a:extLst>
          </p:cNvPr>
          <p:cNvSpPr txBox="1"/>
          <p:nvPr/>
        </p:nvSpPr>
        <p:spPr>
          <a:xfrm>
            <a:off x="304865" y="188717"/>
            <a:ext cx="11434553" cy="4401205"/>
          </a:xfrm>
          <a:prstGeom prst="rect">
            <a:avLst/>
          </a:prstGeom>
          <a:noFill/>
        </p:spPr>
        <p:txBody>
          <a:bodyPr wrap="square">
            <a:spAutoFit/>
          </a:bodyPr>
          <a:lstStyle/>
          <a:p>
            <a:r>
              <a:rPr lang="it-IT" sz="2000" b="1" dirty="0"/>
              <a:t>La memoria</a:t>
            </a:r>
          </a:p>
          <a:p>
            <a:endParaRPr lang="it-IT" sz="2000" b="1" dirty="0"/>
          </a:p>
          <a:p>
            <a:r>
              <a:rPr lang="it-IT" sz="2000" b="1" dirty="0"/>
              <a:t>Intro</a:t>
            </a:r>
          </a:p>
          <a:p>
            <a:endParaRPr lang="it-IT" sz="2000" b="1" dirty="0"/>
          </a:p>
          <a:p>
            <a:r>
              <a:rPr lang="it-IT" dirty="0"/>
              <a:t>Ogni sistema che elabora dati, come anche il nostro cervello, ha bisogno di uno spazio di lavoro veloce per calcoli immediati e uno spazio capiente per conservare i dati in modo duraturo. Nel computer questi due ruoli sono svolti principalmente dalla RAM per il lavoro immediato e dagli SSD/HDD per l’archiviazione permanente.</a:t>
            </a:r>
          </a:p>
          <a:p>
            <a:endParaRPr lang="it-IT" sz="2000" dirty="0"/>
          </a:p>
          <a:p>
            <a:pPr marL="285750" indent="-285750">
              <a:buFont typeface="Arial" panose="020B0604020202020204" pitchFamily="34" charset="0"/>
              <a:buChar char="•"/>
            </a:pPr>
            <a:r>
              <a:rPr lang="it-IT" dirty="0"/>
              <a:t>Ogni sistema di elaborazione dati necessita di:</a:t>
            </a:r>
          </a:p>
          <a:p>
            <a:pPr marL="742950" lvl="1" indent="-285750">
              <a:buFont typeface="Arial" panose="020B0604020202020204" pitchFamily="34" charset="0"/>
              <a:buChar char="•"/>
            </a:pPr>
            <a:r>
              <a:rPr lang="it-IT" b="1" dirty="0"/>
              <a:t>Memoria a lungo termine:</a:t>
            </a:r>
            <a:r>
              <a:rPr lang="it-IT" dirty="0"/>
              <a:t> persistenza delle informazioni</a:t>
            </a:r>
          </a:p>
          <a:p>
            <a:pPr marL="742950" lvl="1" indent="-285750">
              <a:buFont typeface="Arial" panose="020B0604020202020204" pitchFamily="34" charset="0"/>
              <a:buChar char="•"/>
            </a:pPr>
            <a:r>
              <a:rPr lang="it-IT" b="1" dirty="0"/>
              <a:t>Memoria a breve termine:</a:t>
            </a:r>
            <a:r>
              <a:rPr lang="it-IT" dirty="0"/>
              <a:t> area di lavoro veloce per dati e istruzioni</a:t>
            </a:r>
          </a:p>
          <a:p>
            <a:pPr marL="742950" lvl="1"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Nei computer queste corrispondono a:</a:t>
            </a:r>
          </a:p>
          <a:p>
            <a:pPr marL="742950" lvl="1" indent="-285750">
              <a:buFont typeface="Arial" panose="020B0604020202020204" pitchFamily="34" charset="0"/>
              <a:buChar char="•"/>
            </a:pPr>
            <a:r>
              <a:rPr lang="it-IT" b="1" dirty="0"/>
              <a:t>RAM</a:t>
            </a:r>
            <a:r>
              <a:rPr lang="it-IT" dirty="0"/>
              <a:t>: veloce, volatile, dimensione limitata: memoria di lavoro</a:t>
            </a:r>
          </a:p>
          <a:p>
            <a:pPr marL="742950" lvl="1" indent="-285750">
              <a:buFont typeface="Arial" panose="020B0604020202020204" pitchFamily="34" charset="0"/>
              <a:buChar char="•"/>
            </a:pPr>
            <a:r>
              <a:rPr lang="it-IT" b="1" dirty="0"/>
              <a:t>Memorie di massa (SSD/HDD)</a:t>
            </a:r>
            <a:r>
              <a:rPr lang="it-IT" dirty="0"/>
              <a:t>: persistenti, capienti, più lente: memoria a lungo termine</a:t>
            </a:r>
          </a:p>
        </p:txBody>
      </p:sp>
    </p:spTree>
    <p:extLst>
      <p:ext uri="{BB962C8B-B14F-4D97-AF65-F5344CB8AC3E}">
        <p14:creationId xmlns:p14="http://schemas.microsoft.com/office/powerpoint/2010/main" val="2947863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7" name="Picture 9" descr="Disco rigido - Wikipedia">
            <a:extLst>
              <a:ext uri="{FF2B5EF4-FFF2-40B4-BE49-F238E27FC236}">
                <a16:creationId xmlns:a16="http://schemas.microsoft.com/office/drawing/2014/main" id="{A2B1F801-89C2-A1E5-BD99-4F2EBE7A5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2008" y="3571875"/>
            <a:ext cx="2583051" cy="18288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RAM, cos'è | ITALIA INFORMATICA - Web &amp; Co.">
            <a:extLst>
              <a:ext uri="{FF2B5EF4-FFF2-40B4-BE49-F238E27FC236}">
                <a16:creationId xmlns:a16="http://schemas.microsoft.com/office/drawing/2014/main" id="{5E2E4B69-FDFF-A0D9-1078-121E1744B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1418" y="3948613"/>
            <a:ext cx="3545457" cy="2363638"/>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Hard Disk Drive (HDD) - CyberHoot">
            <a:extLst>
              <a:ext uri="{FF2B5EF4-FFF2-40B4-BE49-F238E27FC236}">
                <a16:creationId xmlns:a16="http://schemas.microsoft.com/office/drawing/2014/main" id="{251FE601-850C-F427-34DB-E5ACCF04907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68744" y="3597215"/>
            <a:ext cx="5131838" cy="2902532"/>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B8463AF2-BF93-12AF-489F-9A8CF2D4341A}"/>
              </a:ext>
            </a:extLst>
          </p:cNvPr>
          <p:cNvSpPr txBox="1"/>
          <p:nvPr/>
        </p:nvSpPr>
        <p:spPr>
          <a:xfrm>
            <a:off x="450730" y="700191"/>
            <a:ext cx="10271904" cy="646331"/>
          </a:xfrm>
          <a:prstGeom prst="rect">
            <a:avLst/>
          </a:prstGeom>
          <a:noFill/>
        </p:spPr>
        <p:txBody>
          <a:bodyPr wrap="square">
            <a:spAutoFit/>
          </a:bodyPr>
          <a:lstStyle/>
          <a:p>
            <a:r>
              <a:rPr lang="it-IT" dirty="0"/>
              <a:t>La RAM ospita i dati che la CPU sta elaborando. Se il computer si spegne, il contenuto della RAM si perde. Le memorie di massa invece conservano tutto, ma hanno tempi di accesso molto più elevati.</a:t>
            </a:r>
          </a:p>
        </p:txBody>
      </p:sp>
      <p:sp>
        <p:nvSpPr>
          <p:cNvPr id="6" name="CasellaDiTesto 5">
            <a:extLst>
              <a:ext uri="{FF2B5EF4-FFF2-40B4-BE49-F238E27FC236}">
                <a16:creationId xmlns:a16="http://schemas.microsoft.com/office/drawing/2014/main" id="{629D1001-32D6-7572-DFCF-7D6526D6A439}"/>
              </a:ext>
            </a:extLst>
          </p:cNvPr>
          <p:cNvSpPr txBox="1"/>
          <p:nvPr/>
        </p:nvSpPr>
        <p:spPr>
          <a:xfrm>
            <a:off x="235069" y="237483"/>
            <a:ext cx="6094562" cy="369332"/>
          </a:xfrm>
          <a:prstGeom prst="rect">
            <a:avLst/>
          </a:prstGeom>
          <a:noFill/>
        </p:spPr>
        <p:txBody>
          <a:bodyPr wrap="square">
            <a:spAutoFit/>
          </a:bodyPr>
          <a:lstStyle/>
          <a:p>
            <a:r>
              <a:rPr lang="it-IT" b="1" dirty="0"/>
              <a:t>RAM vs Memoria di Massa</a:t>
            </a:r>
          </a:p>
        </p:txBody>
      </p:sp>
      <p:graphicFrame>
        <p:nvGraphicFramePr>
          <p:cNvPr id="7" name="Tabella 6">
            <a:extLst>
              <a:ext uri="{FF2B5EF4-FFF2-40B4-BE49-F238E27FC236}">
                <a16:creationId xmlns:a16="http://schemas.microsoft.com/office/drawing/2014/main" id="{86D03134-0A7D-F940-642D-199D94AE7E51}"/>
              </a:ext>
            </a:extLst>
          </p:cNvPr>
          <p:cNvGraphicFramePr>
            <a:graphicFrameLocks noGrp="1"/>
          </p:cNvGraphicFramePr>
          <p:nvPr>
            <p:extLst>
              <p:ext uri="{D42A27DB-BD31-4B8C-83A1-F6EECF244321}">
                <p14:modId xmlns:p14="http://schemas.microsoft.com/office/powerpoint/2010/main" val="3366289051"/>
              </p:ext>
            </p:extLst>
          </p:nvPr>
        </p:nvGraphicFramePr>
        <p:xfrm>
          <a:off x="631166" y="1600200"/>
          <a:ext cx="10515600" cy="1828800"/>
        </p:xfrm>
        <a:graphic>
          <a:graphicData uri="http://schemas.openxmlformats.org/drawingml/2006/table">
            <a:tbl>
              <a:tblPr/>
              <a:tblGrid>
                <a:gridCol w="5257800">
                  <a:extLst>
                    <a:ext uri="{9D8B030D-6E8A-4147-A177-3AD203B41FA5}">
                      <a16:colId xmlns:a16="http://schemas.microsoft.com/office/drawing/2014/main" val="2208002719"/>
                    </a:ext>
                  </a:extLst>
                </a:gridCol>
                <a:gridCol w="5257800">
                  <a:extLst>
                    <a:ext uri="{9D8B030D-6E8A-4147-A177-3AD203B41FA5}">
                      <a16:colId xmlns:a16="http://schemas.microsoft.com/office/drawing/2014/main" val="2902666732"/>
                    </a:ext>
                  </a:extLst>
                </a:gridCol>
              </a:tblGrid>
              <a:tr h="0">
                <a:tc>
                  <a:txBody>
                    <a:bodyPr/>
                    <a:lstStyle/>
                    <a:p>
                      <a:r>
                        <a:rPr lang="it-IT" b="1" dirty="0"/>
                        <a:t>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r>
                        <a:rPr lang="it-IT" b="1" dirty="0"/>
                        <a:t>SSD/HDD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98942277"/>
                  </a:ext>
                </a:extLst>
              </a:tr>
              <a:tr h="0">
                <a:tc>
                  <a:txBody>
                    <a:bodyPr/>
                    <a:lstStyle/>
                    <a:p>
                      <a:r>
                        <a:rPr lang="it-IT" dirty="0"/>
                        <a:t>Veloce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it-IT"/>
                        <a:t>Più lenta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393979"/>
                  </a:ext>
                </a:extLst>
              </a:tr>
              <a:tr h="0">
                <a:tc>
                  <a:txBody>
                    <a:bodyPr/>
                    <a:lstStyle/>
                    <a:p>
                      <a:r>
                        <a:rPr lang="it-IT"/>
                        <a:t>Volatile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it-IT"/>
                        <a:t>Persistente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6663495"/>
                  </a:ext>
                </a:extLst>
              </a:tr>
              <a:tr h="0">
                <a:tc>
                  <a:txBody>
                    <a:bodyPr/>
                    <a:lstStyle/>
                    <a:p>
                      <a:r>
                        <a:rPr lang="it-IT"/>
                        <a:t>Limitata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it-IT" dirty="0"/>
                        <a:t>Molto capiente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4146415"/>
                  </a:ext>
                </a:extLst>
              </a:tr>
              <a:tr h="0">
                <a:tc>
                  <a:txBody>
                    <a:bodyPr/>
                    <a:lstStyle/>
                    <a:p>
                      <a:r>
                        <a:rPr lang="it-IT" dirty="0"/>
                        <a:t>Per dati/istruzioni in uso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it-IT" dirty="0"/>
                        <a:t>Per archiviazione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8363862"/>
                  </a:ext>
                </a:extLst>
              </a:tr>
            </a:tbl>
          </a:graphicData>
        </a:graphic>
      </p:graphicFrame>
      <p:pic>
        <p:nvPicPr>
          <p:cNvPr id="2051" name="Picture 3">
            <a:extLst>
              <a:ext uri="{FF2B5EF4-FFF2-40B4-BE49-F238E27FC236}">
                <a16:creationId xmlns:a16="http://schemas.microsoft.com/office/drawing/2014/main" id="{A00D5C05-23AD-A191-60DB-DA81E5EBE1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33" y="3761117"/>
            <a:ext cx="1746575" cy="2738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695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629D1001-32D6-7572-DFCF-7D6526D6A439}"/>
              </a:ext>
            </a:extLst>
          </p:cNvPr>
          <p:cNvSpPr txBox="1"/>
          <p:nvPr/>
        </p:nvSpPr>
        <p:spPr>
          <a:xfrm>
            <a:off x="235069" y="237483"/>
            <a:ext cx="6094562" cy="369332"/>
          </a:xfrm>
          <a:prstGeom prst="rect">
            <a:avLst/>
          </a:prstGeom>
          <a:noFill/>
        </p:spPr>
        <p:txBody>
          <a:bodyPr wrap="square">
            <a:spAutoFit/>
          </a:bodyPr>
          <a:lstStyle/>
          <a:p>
            <a:r>
              <a:rPr lang="it-IT" b="1" dirty="0"/>
              <a:t>Velocità memorie</a:t>
            </a:r>
          </a:p>
        </p:txBody>
      </p:sp>
      <p:pic>
        <p:nvPicPr>
          <p:cNvPr id="15" name="Immagine 14">
            <a:extLst>
              <a:ext uri="{FF2B5EF4-FFF2-40B4-BE49-F238E27FC236}">
                <a16:creationId xmlns:a16="http://schemas.microsoft.com/office/drawing/2014/main" id="{67ABAC39-5FB2-520E-A184-DC3AF69A7280}"/>
              </a:ext>
            </a:extLst>
          </p:cNvPr>
          <p:cNvPicPr>
            <a:picLocks noChangeAspect="1"/>
          </p:cNvPicPr>
          <p:nvPr/>
        </p:nvPicPr>
        <p:blipFill>
          <a:blip r:embed="rId2"/>
          <a:stretch>
            <a:fillRect/>
          </a:stretch>
        </p:blipFill>
        <p:spPr>
          <a:xfrm>
            <a:off x="311681" y="606814"/>
            <a:ext cx="5401311" cy="2822185"/>
          </a:xfrm>
          <a:prstGeom prst="rect">
            <a:avLst/>
          </a:prstGeom>
        </p:spPr>
      </p:pic>
      <p:pic>
        <p:nvPicPr>
          <p:cNvPr id="1036" name="Picture 12" descr="Sata Iii Are Pcie Ssd Faster Than Sata Speed Pcie Nvme Vs Sata Ssd Pcie Ssd">
            <a:extLst>
              <a:ext uri="{FF2B5EF4-FFF2-40B4-BE49-F238E27FC236}">
                <a16:creationId xmlns:a16="http://schemas.microsoft.com/office/drawing/2014/main" id="{35B88737-BEE0-4C9A-309C-267F3E988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069" y="3428999"/>
            <a:ext cx="5974384" cy="3359728"/>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a:extLst>
              <a:ext uri="{FF2B5EF4-FFF2-40B4-BE49-F238E27FC236}">
                <a16:creationId xmlns:a16="http://schemas.microsoft.com/office/drawing/2014/main" id="{E0215EB7-C210-B7AE-A20D-1EE7ED254E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8775" y="2456205"/>
            <a:ext cx="2359891" cy="2144324"/>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F2E7CB3F-D956-41F4-3E40-76A1EB069C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8776" y="4644403"/>
            <a:ext cx="2359891" cy="2144324"/>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37F16495-1689-EC2A-C30D-7B4E9D2B5A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8774" y="257903"/>
            <a:ext cx="2359891" cy="2154428"/>
          </a:xfrm>
          <a:prstGeom prst="rect">
            <a:avLst/>
          </a:prstGeom>
          <a:noFill/>
          <a:extLst>
            <a:ext uri="{909E8E84-426E-40DD-AFC4-6F175D3DCCD1}">
              <a14:hiddenFill xmlns:a14="http://schemas.microsoft.com/office/drawing/2010/main">
                <a:solidFill>
                  <a:srgbClr val="FFFFFF"/>
                </a:solidFill>
              </a14:hiddenFill>
            </a:ext>
          </a:extLst>
        </p:spPr>
      </p:pic>
      <p:sp>
        <p:nvSpPr>
          <p:cNvPr id="10" name="CasellaDiTesto 9">
            <a:extLst>
              <a:ext uri="{FF2B5EF4-FFF2-40B4-BE49-F238E27FC236}">
                <a16:creationId xmlns:a16="http://schemas.microsoft.com/office/drawing/2014/main" id="{BA055F94-A918-4097-3053-78D0A8F2E487}"/>
              </a:ext>
            </a:extLst>
          </p:cNvPr>
          <p:cNvSpPr txBox="1"/>
          <p:nvPr/>
        </p:nvSpPr>
        <p:spPr>
          <a:xfrm>
            <a:off x="9188665" y="909250"/>
            <a:ext cx="2768266" cy="646331"/>
          </a:xfrm>
          <a:prstGeom prst="rect">
            <a:avLst/>
          </a:prstGeom>
          <a:noFill/>
        </p:spPr>
        <p:txBody>
          <a:bodyPr wrap="square">
            <a:spAutoFit/>
          </a:bodyPr>
          <a:lstStyle/>
          <a:p>
            <a:r>
              <a:rPr lang="it-IT" dirty="0"/>
              <a:t>Samsung EVO 750 250 GB</a:t>
            </a:r>
          </a:p>
          <a:p>
            <a:r>
              <a:rPr lang="it-IT" dirty="0"/>
              <a:t>SATA3</a:t>
            </a:r>
          </a:p>
        </p:txBody>
      </p:sp>
      <p:sp>
        <p:nvSpPr>
          <p:cNvPr id="11" name="CasellaDiTesto 10">
            <a:extLst>
              <a:ext uri="{FF2B5EF4-FFF2-40B4-BE49-F238E27FC236}">
                <a16:creationId xmlns:a16="http://schemas.microsoft.com/office/drawing/2014/main" id="{BA34821F-877F-6D94-084E-B23435BC0E8D}"/>
              </a:ext>
            </a:extLst>
          </p:cNvPr>
          <p:cNvSpPr txBox="1"/>
          <p:nvPr/>
        </p:nvSpPr>
        <p:spPr>
          <a:xfrm>
            <a:off x="9188665" y="3310410"/>
            <a:ext cx="2768266" cy="646331"/>
          </a:xfrm>
          <a:prstGeom prst="rect">
            <a:avLst/>
          </a:prstGeom>
          <a:noFill/>
        </p:spPr>
        <p:txBody>
          <a:bodyPr wrap="square">
            <a:spAutoFit/>
          </a:bodyPr>
          <a:lstStyle/>
          <a:p>
            <a:r>
              <a:rPr lang="it-IT" dirty="0"/>
              <a:t>NVME PCI-express 1TB Samsung SSD</a:t>
            </a:r>
          </a:p>
        </p:txBody>
      </p:sp>
      <p:sp>
        <p:nvSpPr>
          <p:cNvPr id="12" name="CasellaDiTesto 11">
            <a:extLst>
              <a:ext uri="{FF2B5EF4-FFF2-40B4-BE49-F238E27FC236}">
                <a16:creationId xmlns:a16="http://schemas.microsoft.com/office/drawing/2014/main" id="{6DC01D3A-B0CD-370B-D5FC-5C9E9D9A993A}"/>
              </a:ext>
            </a:extLst>
          </p:cNvPr>
          <p:cNvSpPr txBox="1"/>
          <p:nvPr/>
        </p:nvSpPr>
        <p:spPr>
          <a:xfrm>
            <a:off x="9188665" y="5592258"/>
            <a:ext cx="2768266" cy="369332"/>
          </a:xfrm>
          <a:prstGeom prst="rect">
            <a:avLst/>
          </a:prstGeom>
          <a:noFill/>
        </p:spPr>
        <p:txBody>
          <a:bodyPr wrap="square">
            <a:spAutoFit/>
          </a:bodyPr>
          <a:lstStyle/>
          <a:p>
            <a:r>
              <a:rPr lang="it-IT" dirty="0"/>
              <a:t>RAM DDR4 3000MHz</a:t>
            </a:r>
          </a:p>
        </p:txBody>
      </p:sp>
    </p:spTree>
    <p:extLst>
      <p:ext uri="{BB962C8B-B14F-4D97-AF65-F5344CB8AC3E}">
        <p14:creationId xmlns:p14="http://schemas.microsoft.com/office/powerpoint/2010/main" val="1930049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980B870E-EB9F-3618-50B3-27341E713B5C}"/>
              </a:ext>
            </a:extLst>
          </p:cNvPr>
          <p:cNvSpPr txBox="1"/>
          <p:nvPr/>
        </p:nvSpPr>
        <p:spPr>
          <a:xfrm>
            <a:off x="235069" y="237483"/>
            <a:ext cx="6094562" cy="369332"/>
          </a:xfrm>
          <a:prstGeom prst="rect">
            <a:avLst/>
          </a:prstGeom>
          <a:noFill/>
        </p:spPr>
        <p:txBody>
          <a:bodyPr wrap="square">
            <a:spAutoFit/>
          </a:bodyPr>
          <a:lstStyle/>
          <a:p>
            <a:pPr marL="0" algn="l" rtl="0" eaLnBrk="1" latinLnBrk="0" hangingPunct="1">
              <a:spcBef>
                <a:spcPts val="0"/>
              </a:spcBef>
              <a:spcAft>
                <a:spcPts val="0"/>
              </a:spcAft>
            </a:pPr>
            <a:r>
              <a:rPr lang="it-IT" sz="1800" b="1" kern="1200" dirty="0">
                <a:solidFill>
                  <a:srgbClr val="000000"/>
                </a:solidFill>
                <a:effectLst/>
                <a:latin typeface="Aptos" panose="020B0004020202020204" pitchFamily="34" charset="0"/>
                <a:ea typeface="+mn-ea"/>
                <a:cs typeface="+mn-cs"/>
              </a:rPr>
              <a:t>Memoria di un processo</a:t>
            </a:r>
            <a:endParaRPr lang="it-IT" dirty="0">
              <a:effectLst/>
            </a:endParaRPr>
          </a:p>
        </p:txBody>
      </p:sp>
      <p:sp>
        <p:nvSpPr>
          <p:cNvPr id="9" name="CasellaDiTesto 8">
            <a:extLst>
              <a:ext uri="{FF2B5EF4-FFF2-40B4-BE49-F238E27FC236}">
                <a16:creationId xmlns:a16="http://schemas.microsoft.com/office/drawing/2014/main" id="{4BE25A14-87BA-0EFB-4DA3-A992E2CFD938}"/>
              </a:ext>
            </a:extLst>
          </p:cNvPr>
          <p:cNvSpPr txBox="1"/>
          <p:nvPr/>
        </p:nvSpPr>
        <p:spPr>
          <a:xfrm>
            <a:off x="398972" y="954945"/>
            <a:ext cx="11151798" cy="923330"/>
          </a:xfrm>
          <a:prstGeom prst="rect">
            <a:avLst/>
          </a:prstGeom>
          <a:noFill/>
        </p:spPr>
        <p:txBody>
          <a:bodyPr wrap="square">
            <a:spAutoFit/>
          </a:bodyPr>
          <a:lstStyle/>
          <a:p>
            <a:r>
              <a:rPr lang="it-IT" dirty="0"/>
              <a:t>Un processo non lavora direttamente sugli indirizzi fisici della RAM. Il sistema operativo gli fornisce una visione astratta e privata della memoria, molto più grande di quella realmente disponibile. Il kernel decide quali parti di questa memoria sono effettivamente utilizzabili.</a:t>
            </a:r>
          </a:p>
        </p:txBody>
      </p:sp>
      <p:sp>
        <p:nvSpPr>
          <p:cNvPr id="12" name="CasellaDiTesto 11">
            <a:extLst>
              <a:ext uri="{FF2B5EF4-FFF2-40B4-BE49-F238E27FC236}">
                <a16:creationId xmlns:a16="http://schemas.microsoft.com/office/drawing/2014/main" id="{5FB70DDD-FA8B-88FC-CBBD-86122F616FF5}"/>
              </a:ext>
            </a:extLst>
          </p:cNvPr>
          <p:cNvSpPr txBox="1"/>
          <p:nvPr/>
        </p:nvSpPr>
        <p:spPr>
          <a:xfrm>
            <a:off x="856171" y="2415663"/>
            <a:ext cx="10634214" cy="2308324"/>
          </a:xfrm>
          <a:prstGeom prst="rect">
            <a:avLst/>
          </a:prstGeom>
          <a:noFill/>
        </p:spPr>
        <p:txBody>
          <a:bodyPr wrap="square">
            <a:spAutoFit/>
          </a:bodyPr>
          <a:lstStyle/>
          <a:p>
            <a:pPr marL="285750" indent="-285750">
              <a:buFont typeface="Arial" panose="020B0604020202020204" pitchFamily="34" charset="0"/>
              <a:buChar char="•"/>
            </a:pPr>
            <a:r>
              <a:rPr lang="it-IT" dirty="0"/>
              <a:t>Ogni processo vede uno spazio di memoria continuo e privato: la memoria virtuale composta da indirizzi astratti, non fisici</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Dimensione dipendente dall'architettura:</a:t>
            </a:r>
          </a:p>
          <a:p>
            <a:pPr marL="742950" lvl="1" indent="-285750">
              <a:buFont typeface="Courier New" panose="02070309020205020404" pitchFamily="49" charset="0"/>
              <a:buChar char="o"/>
            </a:pPr>
            <a:r>
              <a:rPr lang="it-IT" dirty="0"/>
              <a:t>32 bit → 4 </a:t>
            </a:r>
            <a:r>
              <a:rPr lang="it-IT" dirty="0" err="1"/>
              <a:t>GiB</a:t>
            </a:r>
            <a:r>
              <a:rPr lang="it-IT" dirty="0"/>
              <a:t> (2³²)</a:t>
            </a:r>
          </a:p>
          <a:p>
            <a:pPr marL="742950" lvl="1" indent="-285750">
              <a:buFont typeface="Courier New" panose="02070309020205020404" pitchFamily="49" charset="0"/>
              <a:buChar char="o"/>
            </a:pPr>
            <a:r>
              <a:rPr lang="it-IT" dirty="0"/>
              <a:t>64 bit → 16 </a:t>
            </a:r>
            <a:r>
              <a:rPr lang="it-IT" dirty="0" err="1"/>
              <a:t>EiB</a:t>
            </a:r>
            <a:r>
              <a:rPr lang="it-IT" dirty="0"/>
              <a:t> (2⁶⁴)</a:t>
            </a:r>
          </a:p>
          <a:p>
            <a:pPr marL="742950" lvl="1" indent="-285750">
              <a:buFont typeface="Courier New" panose="02070309020205020404" pitchFamily="49" charset="0"/>
              <a:buChar char="o"/>
            </a:pPr>
            <a:endParaRPr lang="it-IT" dirty="0"/>
          </a:p>
          <a:p>
            <a:pPr marL="285750" indent="-285750">
              <a:buFont typeface="Arial" panose="020B0604020202020204" pitchFamily="34" charset="0"/>
              <a:buChar char="•"/>
            </a:pPr>
            <a:r>
              <a:rPr lang="it-IT" dirty="0"/>
              <a:t>L’accesso è sempre controllato e autorizzato dal kernel</a:t>
            </a:r>
          </a:p>
        </p:txBody>
      </p:sp>
    </p:spTree>
    <p:extLst>
      <p:ext uri="{BB962C8B-B14F-4D97-AF65-F5344CB8AC3E}">
        <p14:creationId xmlns:p14="http://schemas.microsoft.com/office/powerpoint/2010/main" val="3507614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testo, schermata, Carattere, design&#10;&#10;Descrizione generata automaticamente">
            <a:extLst>
              <a:ext uri="{FF2B5EF4-FFF2-40B4-BE49-F238E27FC236}">
                <a16:creationId xmlns:a16="http://schemas.microsoft.com/office/drawing/2014/main" id="{80DA53AF-0490-89D0-4A51-7DDA993BA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614" y="527544"/>
            <a:ext cx="4443617" cy="5802912"/>
          </a:xfrm>
          <a:prstGeom prst="rect">
            <a:avLst/>
          </a:prstGeom>
        </p:spPr>
      </p:pic>
      <p:sp>
        <p:nvSpPr>
          <p:cNvPr id="4" name="CasellaDiTesto 3">
            <a:extLst>
              <a:ext uri="{FF2B5EF4-FFF2-40B4-BE49-F238E27FC236}">
                <a16:creationId xmlns:a16="http://schemas.microsoft.com/office/drawing/2014/main" id="{9B3952F7-51B0-2299-94D0-38A9A5F93E98}"/>
              </a:ext>
            </a:extLst>
          </p:cNvPr>
          <p:cNvSpPr txBox="1"/>
          <p:nvPr/>
        </p:nvSpPr>
        <p:spPr>
          <a:xfrm>
            <a:off x="235069" y="237483"/>
            <a:ext cx="6094562" cy="369332"/>
          </a:xfrm>
          <a:prstGeom prst="rect">
            <a:avLst/>
          </a:prstGeom>
          <a:noFill/>
        </p:spPr>
        <p:txBody>
          <a:bodyPr wrap="square">
            <a:spAutoFit/>
          </a:bodyPr>
          <a:lstStyle/>
          <a:p>
            <a:pPr marL="0" algn="l" rtl="0" eaLnBrk="1" latinLnBrk="0" hangingPunct="1">
              <a:spcBef>
                <a:spcPts val="0"/>
              </a:spcBef>
              <a:spcAft>
                <a:spcPts val="0"/>
              </a:spcAft>
            </a:pPr>
            <a:r>
              <a:rPr lang="it-IT" sz="1800" b="1" kern="1200" dirty="0">
                <a:solidFill>
                  <a:srgbClr val="000000"/>
                </a:solidFill>
                <a:effectLst/>
                <a:latin typeface="Aptos" panose="020B0004020202020204" pitchFamily="34" charset="0"/>
                <a:ea typeface="+mn-ea"/>
                <a:cs typeface="+mn-cs"/>
              </a:rPr>
              <a:t>Layout della memoria di un processo</a:t>
            </a:r>
            <a:endParaRPr lang="it-IT" dirty="0">
              <a:effectLst/>
            </a:endParaRPr>
          </a:p>
        </p:txBody>
      </p:sp>
      <p:sp>
        <p:nvSpPr>
          <p:cNvPr id="5" name="Rectangle 1">
            <a:extLst>
              <a:ext uri="{FF2B5EF4-FFF2-40B4-BE49-F238E27FC236}">
                <a16:creationId xmlns:a16="http://schemas.microsoft.com/office/drawing/2014/main" id="{3784B76B-B934-E66D-2B7B-05F90AD41E4B}"/>
              </a:ext>
            </a:extLst>
          </p:cNvPr>
          <p:cNvSpPr>
            <a:spLocks noChangeArrowheads="1"/>
          </p:cNvSpPr>
          <p:nvPr/>
        </p:nvSpPr>
        <p:spPr bwMode="auto">
          <a:xfrm>
            <a:off x="252322" y="618409"/>
            <a:ext cx="691716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chemeClr val="tx1"/>
                </a:solidFill>
                <a:effectLst/>
                <a:latin typeface="Arial" panose="020B0604020202020204" pitchFamily="34" charset="0"/>
              </a:rPr>
              <a:t>Ogni processo ha delle aree con funzioni diverse: il codice eseguibile, variabili globali, memoria dinamica allocata a </a:t>
            </a:r>
            <a:r>
              <a:rPr kumimoji="0" lang="it-IT" altLang="it-IT" sz="1800" b="0" i="0" u="none" strike="noStrike" cap="none" normalizeH="0" baseline="0" dirty="0" err="1">
                <a:ln>
                  <a:noFill/>
                </a:ln>
                <a:solidFill>
                  <a:schemeClr val="tx1"/>
                </a:solidFill>
                <a:effectLst/>
                <a:latin typeface="Arial" panose="020B0604020202020204" pitchFamily="34" charset="0"/>
              </a:rPr>
              <a:t>runtime</a:t>
            </a:r>
            <a:r>
              <a:rPr kumimoji="0" lang="it-IT" altLang="it-IT" sz="1800" b="0" i="0" u="none" strike="noStrike" cap="none" normalizeH="0" baseline="0" dirty="0">
                <a:ln>
                  <a:noFill/>
                </a:ln>
                <a:solidFill>
                  <a:schemeClr val="tx1"/>
                </a:solidFill>
                <a:effectLst/>
                <a:latin typeface="Arial" panose="020B0604020202020204" pitchFamily="34" charset="0"/>
              </a:rPr>
              <a:t>, e lo </a:t>
            </a:r>
            <a:r>
              <a:rPr kumimoji="0" lang="it-IT" altLang="it-IT" sz="1800" b="0" i="0" u="none" strike="noStrike" cap="none" normalizeH="0" baseline="0" dirty="0" err="1">
                <a:ln>
                  <a:noFill/>
                </a:ln>
                <a:solidFill>
                  <a:schemeClr val="tx1"/>
                </a:solidFill>
                <a:effectLst/>
                <a:latin typeface="Arial" panose="020B0604020202020204" pitchFamily="34" charset="0"/>
              </a:rPr>
              <a:t>stack</a:t>
            </a:r>
            <a:r>
              <a:rPr kumimoji="0" lang="it-IT" altLang="it-IT" sz="1800" b="0" i="0" u="none" strike="noStrike" cap="none" normalizeH="0" baseline="0" dirty="0">
                <a:ln>
                  <a:noFill/>
                </a:ln>
                <a:solidFill>
                  <a:schemeClr val="tx1"/>
                </a:solidFill>
                <a:effectLst/>
                <a:latin typeface="Arial" panose="020B0604020202020204" pitchFamily="34" charset="0"/>
              </a:rPr>
              <a:t> per le chiamate di funzione. Nella parte più alta ci sono ambiente e argomenti, e una zona riservata al kernel che il processo non può toccare.</a:t>
            </a:r>
          </a:p>
        </p:txBody>
      </p:sp>
      <p:graphicFrame>
        <p:nvGraphicFramePr>
          <p:cNvPr id="12" name="Tabella 11">
            <a:extLst>
              <a:ext uri="{FF2B5EF4-FFF2-40B4-BE49-F238E27FC236}">
                <a16:creationId xmlns:a16="http://schemas.microsoft.com/office/drawing/2014/main" id="{5761698B-5752-793D-E6EC-0B60345A28BC}"/>
              </a:ext>
            </a:extLst>
          </p:cNvPr>
          <p:cNvGraphicFramePr>
            <a:graphicFrameLocks noGrp="1"/>
          </p:cNvGraphicFramePr>
          <p:nvPr>
            <p:extLst>
              <p:ext uri="{D42A27DB-BD31-4B8C-83A1-F6EECF244321}">
                <p14:modId xmlns:p14="http://schemas.microsoft.com/office/powerpoint/2010/main" val="2780661675"/>
              </p:ext>
            </p:extLst>
          </p:nvPr>
        </p:nvGraphicFramePr>
        <p:xfrm>
          <a:off x="406879" y="2272106"/>
          <a:ext cx="6252714" cy="3901440"/>
        </p:xfrm>
        <a:graphic>
          <a:graphicData uri="http://schemas.openxmlformats.org/drawingml/2006/table">
            <a:tbl>
              <a:tblPr/>
              <a:tblGrid>
                <a:gridCol w="3126357">
                  <a:extLst>
                    <a:ext uri="{9D8B030D-6E8A-4147-A177-3AD203B41FA5}">
                      <a16:colId xmlns:a16="http://schemas.microsoft.com/office/drawing/2014/main" val="321055487"/>
                    </a:ext>
                  </a:extLst>
                </a:gridCol>
                <a:gridCol w="3126357">
                  <a:extLst>
                    <a:ext uri="{9D8B030D-6E8A-4147-A177-3AD203B41FA5}">
                      <a16:colId xmlns:a16="http://schemas.microsoft.com/office/drawing/2014/main" val="4084159365"/>
                    </a:ext>
                  </a:extLst>
                </a:gridCol>
              </a:tblGrid>
              <a:tr h="0">
                <a:tc>
                  <a:txBody>
                    <a:bodyPr/>
                    <a:lstStyle/>
                    <a:p>
                      <a:r>
                        <a:rPr lang="it-IT" sz="1600" b="1"/>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it-IT" sz="1600" b="1" dirty="0"/>
                        <a:t>Contenuto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522824942"/>
                  </a:ext>
                </a:extLst>
              </a:tr>
              <a:tr h="0">
                <a:tc>
                  <a:txBody>
                    <a:bodyPr/>
                    <a:lstStyle/>
                    <a:p>
                      <a:r>
                        <a:rPr lang="it-IT" sz="1600" b="1"/>
                        <a:t>Text</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a:t>Codice eseguibile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8175795"/>
                  </a:ext>
                </a:extLst>
              </a:tr>
              <a:tr h="0">
                <a:tc>
                  <a:txBody>
                    <a:bodyPr/>
                    <a:lstStyle/>
                    <a:p>
                      <a:r>
                        <a:rPr lang="it-IT" sz="1600" b="1"/>
                        <a:t>Initialized Globals</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a:t>Variabili globali inizializzate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393861"/>
                  </a:ext>
                </a:extLst>
              </a:tr>
              <a:tr h="0">
                <a:tc>
                  <a:txBody>
                    <a:bodyPr/>
                    <a:lstStyle/>
                    <a:p>
                      <a:r>
                        <a:rPr lang="it-IT" sz="1600" b="1" dirty="0" err="1"/>
                        <a:t>Uninitialized</a:t>
                      </a:r>
                      <a:r>
                        <a:rPr lang="it-IT" sz="1600" b="1" dirty="0"/>
                        <a:t> </a:t>
                      </a:r>
                      <a:r>
                        <a:rPr lang="it-IT" sz="1600" b="1" dirty="0" err="1"/>
                        <a:t>Globals</a:t>
                      </a:r>
                      <a:endParaRPr lang="it-IT"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a:t>Variabili globali non inizializzate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8342945"/>
                  </a:ext>
                </a:extLst>
              </a:tr>
              <a:tr h="0">
                <a:tc>
                  <a:txBody>
                    <a:bodyPr/>
                    <a:lstStyle/>
                    <a:p>
                      <a:r>
                        <a:rPr lang="it-IT" sz="1600" b="1"/>
                        <a:t>Heap</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dirty="0"/>
                        <a:t>Allocazioni dinamiche (cresce verso indirizzi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5583"/>
                  </a:ext>
                </a:extLst>
              </a:tr>
              <a:tr h="0">
                <a:tc>
                  <a:txBody>
                    <a:bodyPr/>
                    <a:lstStyle/>
                    <a:p>
                      <a:r>
                        <a:rPr lang="it-IT" sz="1600" b="1"/>
                        <a:t>Stack</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a:t>Attivazioni di funzioni e variabili automatiche (cresce verso indirizzi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37502"/>
                  </a:ext>
                </a:extLst>
              </a:tr>
              <a:tr h="0">
                <a:tc>
                  <a:txBody>
                    <a:bodyPr/>
                    <a:lstStyle/>
                    <a:p>
                      <a:r>
                        <a:rPr lang="it-IT" sz="1600" b="1"/>
                        <a:t>Environment + Arguments</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a:t>Variabili ambiente + argomenti da linea di comando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088061"/>
                  </a:ext>
                </a:extLst>
              </a:tr>
              <a:tr h="0">
                <a:tc>
                  <a:txBody>
                    <a:bodyPr/>
                    <a:lstStyle/>
                    <a:p>
                      <a:r>
                        <a:rPr lang="it-IT" sz="1600" b="1"/>
                        <a:t>Kernel Space</a:t>
                      </a:r>
                      <a:endParaRPr lang="it-IT"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600" dirty="0"/>
                        <a:t>Dati del kernel relativi al processo (non accessibile)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0092127"/>
                  </a:ext>
                </a:extLst>
              </a:tr>
            </a:tbl>
          </a:graphicData>
        </a:graphic>
      </p:graphicFrame>
    </p:spTree>
    <p:extLst>
      <p:ext uri="{BB962C8B-B14F-4D97-AF65-F5344CB8AC3E}">
        <p14:creationId xmlns:p14="http://schemas.microsoft.com/office/powerpoint/2010/main" val="135153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E131B7-A61C-112D-C6CB-237A79A302EF}"/>
              </a:ext>
            </a:extLst>
          </p:cNvPr>
          <p:cNvSpPr>
            <a:spLocks noChangeArrowheads="1"/>
          </p:cNvSpPr>
          <p:nvPr/>
        </p:nvSpPr>
        <p:spPr bwMode="auto">
          <a:xfrm>
            <a:off x="491706" y="606119"/>
            <a:ext cx="112919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it-IT" b="1" dirty="0" err="1"/>
              <a:t>Stack</a:t>
            </a:r>
            <a:r>
              <a:rPr lang="it-IT" b="1" dirty="0"/>
              <a:t> e Heap</a:t>
            </a:r>
          </a:p>
          <a:p>
            <a:endParaRPr lang="it-IT" b="1" dirty="0"/>
          </a:p>
          <a:p>
            <a:r>
              <a:rPr lang="it-IT" dirty="0"/>
              <a:t>Lo </a:t>
            </a:r>
            <a:r>
              <a:rPr lang="it-IT" dirty="0" err="1"/>
              <a:t>stack</a:t>
            </a:r>
            <a:r>
              <a:rPr lang="it-IT" dirty="0"/>
              <a:t> è gestito automaticamente dalla CPU e si adatta alle chiamate di funzione. L’heap invece è gestito dal programma stesso: se allochiamo memoria, dobbiamo anche ricordarci di liberarla. Uno </a:t>
            </a:r>
            <a:r>
              <a:rPr lang="it-IT" dirty="0" err="1"/>
              <a:t>stack</a:t>
            </a:r>
            <a:r>
              <a:rPr lang="it-IT" dirty="0"/>
              <a:t> troppo grande causa </a:t>
            </a:r>
            <a:r>
              <a:rPr lang="it-IT" dirty="0" err="1"/>
              <a:t>stack</a:t>
            </a:r>
            <a:r>
              <a:rPr lang="it-IT" dirty="0"/>
              <a:t> overflow, mentre un heap mal gestito porta a leak di memoria.</a:t>
            </a:r>
          </a:p>
          <a:p>
            <a:endParaRPr lang="it-IT" b="1" dirty="0"/>
          </a:p>
          <a:p>
            <a:r>
              <a:rPr lang="it-IT" b="1" dirty="0"/>
              <a:t>Heap</a:t>
            </a:r>
            <a:endParaRPr lang="it-IT" dirty="0"/>
          </a:p>
          <a:p>
            <a:pPr lvl="1"/>
            <a:r>
              <a:rPr lang="it-IT" dirty="0"/>
              <a:t>Memoria allocata dinamicamente (</a:t>
            </a:r>
            <a:r>
              <a:rPr lang="it-IT" i="1" dirty="0" err="1"/>
              <a:t>malloc</a:t>
            </a:r>
            <a:r>
              <a:rPr lang="it-IT" dirty="0"/>
              <a:t> in C)</a:t>
            </a:r>
          </a:p>
          <a:p>
            <a:pPr lvl="1"/>
            <a:r>
              <a:rPr lang="it-IT" dirty="0"/>
              <a:t>Cresce quando servono nuove aree</a:t>
            </a:r>
          </a:p>
          <a:p>
            <a:r>
              <a:rPr lang="it-IT" b="1" dirty="0" err="1"/>
              <a:t>Stack</a:t>
            </a:r>
            <a:endParaRPr lang="it-IT" dirty="0"/>
          </a:p>
          <a:p>
            <a:pPr lvl="1"/>
            <a:r>
              <a:rPr lang="it-IT" dirty="0"/>
              <a:t>Supporta le chiamate di funzione</a:t>
            </a:r>
          </a:p>
          <a:p>
            <a:pPr lvl="1"/>
            <a:r>
              <a:rPr lang="it-IT" dirty="0"/>
              <a:t>Ogni chiamata crea uno </a:t>
            </a:r>
            <a:r>
              <a:rPr lang="it-IT" dirty="0" err="1"/>
              <a:t>stack</a:t>
            </a:r>
            <a:r>
              <a:rPr lang="it-IT" dirty="0"/>
              <a:t> frame</a:t>
            </a:r>
          </a:p>
          <a:p>
            <a:pPr lvl="1"/>
            <a:r>
              <a:rPr lang="it-IT" dirty="0"/>
              <a:t>Dimensione limitata (es.: 8 </a:t>
            </a:r>
            <a:r>
              <a:rPr lang="it-IT" dirty="0" err="1"/>
              <a:t>MiB</a:t>
            </a:r>
            <a:r>
              <a:rPr lang="it-IT" dirty="0"/>
              <a:t> di default)</a:t>
            </a:r>
          </a:p>
        </p:txBody>
      </p:sp>
    </p:spTree>
    <p:extLst>
      <p:ext uri="{BB962C8B-B14F-4D97-AF65-F5344CB8AC3E}">
        <p14:creationId xmlns:p14="http://schemas.microsoft.com/office/powerpoint/2010/main" val="214505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FABD5682-CDE4-6F47-4839-C0BC364C8749}"/>
              </a:ext>
            </a:extLst>
          </p:cNvPr>
          <p:cNvSpPr txBox="1"/>
          <p:nvPr/>
        </p:nvSpPr>
        <p:spPr>
          <a:xfrm>
            <a:off x="432953" y="210003"/>
            <a:ext cx="10496191" cy="3139321"/>
          </a:xfrm>
          <a:prstGeom prst="rect">
            <a:avLst/>
          </a:prstGeom>
          <a:noFill/>
        </p:spPr>
        <p:txBody>
          <a:bodyPr wrap="square">
            <a:spAutoFit/>
          </a:bodyPr>
          <a:lstStyle/>
          <a:p>
            <a:r>
              <a:rPr lang="it-IT" b="1" dirty="0"/>
              <a:t>Perché serve la Memoria Virtuale</a:t>
            </a:r>
          </a:p>
          <a:p>
            <a:endParaRPr lang="it-IT" b="1" dirty="0"/>
          </a:p>
          <a:p>
            <a:r>
              <a:rPr lang="it-IT" dirty="0"/>
              <a:t>La memoria virtuale permette di far girare molti programmi contemporaneamente anche se la RAM è poca. La MMU traduce gli indirizzi e permette che una pagina virtuale possa stare in qualsiasi punto della RAM, o anche fuori dalla RAM quando non serve.</a:t>
            </a:r>
          </a:p>
          <a:p>
            <a:endParaRPr lang="it-IT" b="1" dirty="0"/>
          </a:p>
          <a:p>
            <a:pPr marL="285750" indent="-285750">
              <a:buFont typeface="Arial" panose="020B0604020202020204" pitchFamily="34" charset="0"/>
              <a:buChar char="•"/>
            </a:pPr>
            <a:r>
              <a:rPr lang="it-IT" dirty="0"/>
              <a:t>La RAM è limitata, lo spazio virtuale no</a:t>
            </a:r>
          </a:p>
          <a:p>
            <a:pPr marL="285750" indent="-285750">
              <a:buFont typeface="Arial" panose="020B0604020202020204" pitchFamily="34" charset="0"/>
              <a:buChar char="•"/>
            </a:pPr>
            <a:r>
              <a:rPr lang="it-IT" dirty="0"/>
              <a:t>Il kernel usa la MMU (Memory Management Unit) per:</a:t>
            </a:r>
          </a:p>
          <a:p>
            <a:pPr marL="742950" lvl="1" indent="-285750">
              <a:buFont typeface="Arial" panose="020B0604020202020204" pitchFamily="34" charset="0"/>
              <a:buChar char="•"/>
            </a:pPr>
            <a:r>
              <a:rPr lang="it-IT" dirty="0"/>
              <a:t>Mappare pagine virtuali su pagine fisiche</a:t>
            </a:r>
          </a:p>
          <a:p>
            <a:pPr marL="742950" lvl="1" indent="-285750">
              <a:buFont typeface="Arial" panose="020B0604020202020204" pitchFamily="34" charset="0"/>
              <a:buChar char="•"/>
            </a:pPr>
            <a:r>
              <a:rPr lang="it-IT" dirty="0"/>
              <a:t>Tradurre dinamicamente indirizzi virtuali in indirizzi fisici e viceversa</a:t>
            </a:r>
          </a:p>
          <a:p>
            <a:pPr marL="285750" indent="-285750">
              <a:buFont typeface="Arial" panose="020B0604020202020204" pitchFamily="34" charset="0"/>
              <a:buChar char="•"/>
            </a:pPr>
            <a:r>
              <a:rPr lang="it-IT" dirty="0"/>
              <a:t>Granularità della mappatura: pagina di 4 </a:t>
            </a:r>
            <a:r>
              <a:rPr lang="it-IT" dirty="0" err="1"/>
              <a:t>KiB</a:t>
            </a:r>
            <a:endParaRPr lang="it-IT" dirty="0"/>
          </a:p>
        </p:txBody>
      </p:sp>
      <p:pic>
        <p:nvPicPr>
          <p:cNvPr id="7171" name="Picture 3" descr="How is Virtual Memory Translated to Physical Memory? - VMware Cloud  Foundation (VCF) Blog">
            <a:extLst>
              <a:ext uri="{FF2B5EF4-FFF2-40B4-BE49-F238E27FC236}">
                <a16:creationId xmlns:a16="http://schemas.microsoft.com/office/drawing/2014/main" id="{336D7972-1EC6-29C0-9AD7-90F2C31E0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638" y="3349324"/>
            <a:ext cx="6162530" cy="3406974"/>
          </a:xfrm>
          <a:prstGeom prst="rect">
            <a:avLst/>
          </a:prstGeom>
          <a:noFill/>
          <a:extLst>
            <a:ext uri="{909E8E84-426E-40DD-AFC4-6F175D3DCCD1}">
              <a14:hiddenFill xmlns:a14="http://schemas.microsoft.com/office/drawing/2010/main">
                <a:solidFill>
                  <a:srgbClr val="FFFFFF"/>
                </a:solidFill>
              </a14:hiddenFill>
            </a:ext>
          </a:extLst>
        </p:spPr>
      </p:pic>
      <p:sp>
        <p:nvSpPr>
          <p:cNvPr id="8" name="CasellaDiTesto 7">
            <a:extLst>
              <a:ext uri="{FF2B5EF4-FFF2-40B4-BE49-F238E27FC236}">
                <a16:creationId xmlns:a16="http://schemas.microsoft.com/office/drawing/2014/main" id="{A8B25FD0-7A72-D85C-11B5-375A7D33ADA4}"/>
              </a:ext>
            </a:extLst>
          </p:cNvPr>
          <p:cNvSpPr txBox="1"/>
          <p:nvPr/>
        </p:nvSpPr>
        <p:spPr>
          <a:xfrm>
            <a:off x="249382" y="6017634"/>
            <a:ext cx="3583708" cy="738664"/>
          </a:xfrm>
          <a:prstGeom prst="rect">
            <a:avLst/>
          </a:prstGeom>
          <a:noFill/>
        </p:spPr>
        <p:txBody>
          <a:bodyPr wrap="square">
            <a:spAutoFit/>
          </a:bodyPr>
          <a:lstStyle/>
          <a:p>
            <a:pPr algn="r"/>
            <a:r>
              <a:rPr lang="it-IT" sz="1400" b="0" i="0" dirty="0">
                <a:effectLst/>
                <a:latin typeface="Arial" panose="020B0604020202020204" pitchFamily="34" charset="0"/>
                <a:cs typeface="Arial" panose="020B0604020202020204" pitchFamily="34" charset="0"/>
              </a:rPr>
              <a:t>Page offset: la parte di un indirizzo virtuale che specifica la posizione esatta di un byte all'interno di una pagina di memoria</a:t>
            </a:r>
            <a:endParaRPr lang="it-IT"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0609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646D60DC-1CB7-E286-A714-7F31E8488378}"/>
              </a:ext>
            </a:extLst>
          </p:cNvPr>
          <p:cNvSpPr txBox="1"/>
          <p:nvPr/>
        </p:nvSpPr>
        <p:spPr>
          <a:xfrm>
            <a:off x="338586" y="319980"/>
            <a:ext cx="6094562" cy="369332"/>
          </a:xfrm>
          <a:prstGeom prst="rect">
            <a:avLst/>
          </a:prstGeom>
          <a:noFill/>
        </p:spPr>
        <p:txBody>
          <a:bodyPr wrap="square">
            <a:spAutoFit/>
          </a:bodyPr>
          <a:lstStyle/>
          <a:p>
            <a:r>
              <a:rPr lang="it-IT" b="1" dirty="0"/>
              <a:t>Vantaggi principali della memoria virtuale</a:t>
            </a:r>
          </a:p>
        </p:txBody>
      </p:sp>
      <p:sp>
        <p:nvSpPr>
          <p:cNvPr id="17" name="CasellaDiTesto 16">
            <a:extLst>
              <a:ext uri="{FF2B5EF4-FFF2-40B4-BE49-F238E27FC236}">
                <a16:creationId xmlns:a16="http://schemas.microsoft.com/office/drawing/2014/main" id="{ED44FE79-93BB-9A82-09DA-9147173098E9}"/>
              </a:ext>
            </a:extLst>
          </p:cNvPr>
          <p:cNvSpPr txBox="1"/>
          <p:nvPr/>
        </p:nvSpPr>
        <p:spPr>
          <a:xfrm>
            <a:off x="649137" y="1161554"/>
            <a:ext cx="10056244" cy="1754326"/>
          </a:xfrm>
          <a:prstGeom prst="rect">
            <a:avLst/>
          </a:prstGeom>
          <a:noFill/>
        </p:spPr>
        <p:txBody>
          <a:bodyPr wrap="square">
            <a:spAutoFit/>
          </a:bodyPr>
          <a:lstStyle/>
          <a:p>
            <a:r>
              <a:rPr lang="it-IT" b="1" i="1" dirty="0"/>
              <a:t>1. Il sistema mappa in RAM solo ciò che serve davvero</a:t>
            </a:r>
            <a:endParaRPr lang="it-IT" b="1" dirty="0"/>
          </a:p>
          <a:p>
            <a:r>
              <a:rPr lang="it-IT" dirty="0"/>
              <a:t>Un processo può dichiarare molta memoria, ma spesso solo una parte viene realmente utilizzata.</a:t>
            </a:r>
            <a:br>
              <a:rPr lang="it-IT" dirty="0"/>
            </a:br>
            <a:r>
              <a:rPr lang="it-IT" dirty="0"/>
              <a:t>Grazie alla memoria virtuale, il sistema operativo </a:t>
            </a:r>
            <a:r>
              <a:rPr lang="it-IT" b="1" dirty="0"/>
              <a:t>carica in RAM solo le pagine di memoria richieste</a:t>
            </a:r>
            <a:r>
              <a:rPr lang="it-IT" dirty="0"/>
              <a:t>. Il resto rimane su disco e viene caricato solo se serve (demand </a:t>
            </a:r>
            <a:r>
              <a:rPr lang="it-IT" dirty="0" err="1"/>
              <a:t>paging</a:t>
            </a:r>
            <a:r>
              <a:rPr lang="it-IT" dirty="0"/>
              <a:t>).</a:t>
            </a:r>
          </a:p>
          <a:p>
            <a:endParaRPr lang="it-IT" dirty="0"/>
          </a:p>
          <a:p>
            <a:r>
              <a:rPr lang="it-IT" dirty="0"/>
              <a:t>Si risparmia RAM e si possono eseguire più programmi contemporaneamente.</a:t>
            </a:r>
          </a:p>
        </p:txBody>
      </p:sp>
      <p:sp>
        <p:nvSpPr>
          <p:cNvPr id="19" name="CasellaDiTesto 18">
            <a:extLst>
              <a:ext uri="{FF2B5EF4-FFF2-40B4-BE49-F238E27FC236}">
                <a16:creationId xmlns:a16="http://schemas.microsoft.com/office/drawing/2014/main" id="{0B6BCD7C-4B7F-A815-5982-07F67DD523D1}"/>
              </a:ext>
            </a:extLst>
          </p:cNvPr>
          <p:cNvSpPr txBox="1"/>
          <p:nvPr/>
        </p:nvSpPr>
        <p:spPr>
          <a:xfrm>
            <a:off x="571500" y="3259203"/>
            <a:ext cx="6094562" cy="2031325"/>
          </a:xfrm>
          <a:prstGeom prst="rect">
            <a:avLst/>
          </a:prstGeom>
          <a:noFill/>
        </p:spPr>
        <p:txBody>
          <a:bodyPr wrap="square">
            <a:spAutoFit/>
          </a:bodyPr>
          <a:lstStyle/>
          <a:p>
            <a:r>
              <a:rPr lang="it-IT" b="1" i="1" dirty="0"/>
              <a:t>2. Non tutti i processi sono attivi contemporaneamente</a:t>
            </a:r>
            <a:endParaRPr lang="it-IT" b="1" dirty="0"/>
          </a:p>
          <a:p>
            <a:r>
              <a:rPr lang="it-IT" dirty="0"/>
              <a:t>Un programma può restare per molto tempo inattivo (ad esempio una finestra aperta in background).</a:t>
            </a:r>
            <a:br>
              <a:rPr lang="it-IT" dirty="0"/>
            </a:br>
            <a:r>
              <a:rPr lang="it-IT" dirty="0"/>
              <a:t>Il sistema può </a:t>
            </a:r>
            <a:r>
              <a:rPr lang="it-IT" b="1" dirty="0"/>
              <a:t>spostare le parti meno usate sul disco</a:t>
            </a:r>
            <a:r>
              <a:rPr lang="it-IT" dirty="0"/>
              <a:t> (swap) per lasciare più RAM ai programmi attivi.</a:t>
            </a:r>
          </a:p>
          <a:p>
            <a:endParaRPr lang="it-IT" dirty="0"/>
          </a:p>
          <a:p>
            <a:r>
              <a:rPr lang="it-IT" dirty="0"/>
              <a:t>Gestione più efficiente delle risorse.</a:t>
            </a:r>
          </a:p>
        </p:txBody>
      </p:sp>
    </p:spTree>
    <p:extLst>
      <p:ext uri="{BB962C8B-B14F-4D97-AF65-F5344CB8AC3E}">
        <p14:creationId xmlns:p14="http://schemas.microsoft.com/office/powerpoint/2010/main" val="2660754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646D60DC-1CB7-E286-A714-7F31E8488378}"/>
              </a:ext>
            </a:extLst>
          </p:cNvPr>
          <p:cNvSpPr txBox="1"/>
          <p:nvPr/>
        </p:nvSpPr>
        <p:spPr>
          <a:xfrm>
            <a:off x="338586" y="319980"/>
            <a:ext cx="6094562" cy="369332"/>
          </a:xfrm>
          <a:prstGeom prst="rect">
            <a:avLst/>
          </a:prstGeom>
          <a:noFill/>
        </p:spPr>
        <p:txBody>
          <a:bodyPr wrap="square">
            <a:spAutoFit/>
          </a:bodyPr>
          <a:lstStyle/>
          <a:p>
            <a:r>
              <a:rPr lang="it-IT" b="1" dirty="0"/>
              <a:t>Vantaggi principali della memoria virtuale (II)</a:t>
            </a:r>
          </a:p>
        </p:txBody>
      </p:sp>
      <p:sp>
        <p:nvSpPr>
          <p:cNvPr id="17" name="CasellaDiTesto 16">
            <a:extLst>
              <a:ext uri="{FF2B5EF4-FFF2-40B4-BE49-F238E27FC236}">
                <a16:creationId xmlns:a16="http://schemas.microsoft.com/office/drawing/2014/main" id="{ED44FE79-93BB-9A82-09DA-9147173098E9}"/>
              </a:ext>
            </a:extLst>
          </p:cNvPr>
          <p:cNvSpPr txBox="1"/>
          <p:nvPr/>
        </p:nvSpPr>
        <p:spPr>
          <a:xfrm>
            <a:off x="649137" y="1161554"/>
            <a:ext cx="10056244" cy="3970318"/>
          </a:xfrm>
          <a:prstGeom prst="rect">
            <a:avLst/>
          </a:prstGeom>
          <a:noFill/>
        </p:spPr>
        <p:txBody>
          <a:bodyPr wrap="square">
            <a:spAutoFit/>
          </a:bodyPr>
          <a:lstStyle/>
          <a:p>
            <a:r>
              <a:rPr lang="it-IT" b="1" i="1" dirty="0"/>
              <a:t>3. Copy-On-Write (COW)</a:t>
            </a:r>
            <a:endParaRPr lang="it-IT" dirty="0"/>
          </a:p>
          <a:p>
            <a:r>
              <a:rPr lang="it-IT" dirty="0"/>
              <a:t>Quando un processo crea una copia di sé (ad esempio con </a:t>
            </a:r>
            <a:r>
              <a:rPr lang="it-IT" dirty="0" err="1"/>
              <a:t>fork</a:t>
            </a:r>
            <a:r>
              <a:rPr lang="it-IT" dirty="0"/>
              <a:t>() in Unix), inizialmente condivide la stessa memoria con il processo originale.</a:t>
            </a:r>
          </a:p>
          <a:p>
            <a:r>
              <a:rPr lang="it-IT" dirty="0"/>
              <a:t>Solo se una delle due copie modifica una pagina, il sistema duplica solo quella pagina specifica.</a:t>
            </a:r>
          </a:p>
          <a:p>
            <a:endParaRPr lang="it-IT" dirty="0"/>
          </a:p>
          <a:p>
            <a:r>
              <a:rPr lang="it-IT" dirty="0"/>
              <a:t>Evitare copie inutili, grande risparmio di RAM.</a:t>
            </a:r>
          </a:p>
          <a:p>
            <a:endParaRPr lang="it-IT" dirty="0"/>
          </a:p>
          <a:p>
            <a:endParaRPr lang="it-IT" b="1" i="1" dirty="0"/>
          </a:p>
          <a:p>
            <a:r>
              <a:rPr lang="it-IT" b="1" i="1" dirty="0"/>
              <a:t>4. Condivisione del codice tra processi</a:t>
            </a:r>
          </a:p>
          <a:p>
            <a:r>
              <a:rPr lang="it-IT" dirty="0"/>
              <a:t>Molti programmi usano le stesse librerie (es: </a:t>
            </a:r>
            <a:r>
              <a:rPr lang="it-IT" dirty="0" err="1"/>
              <a:t>libc</a:t>
            </a:r>
            <a:r>
              <a:rPr lang="it-IT" dirty="0"/>
              <a:t>, librerie grafiche, ecc.) e più istanze dello stesso programma hanno lo stesso codice macchina.</a:t>
            </a:r>
          </a:p>
          <a:p>
            <a:r>
              <a:rPr lang="it-IT" dirty="0"/>
              <a:t>Il codice è </a:t>
            </a:r>
            <a:r>
              <a:rPr lang="it-IT" dirty="0" err="1"/>
              <a:t>read-only</a:t>
            </a:r>
            <a:r>
              <a:rPr lang="it-IT" dirty="0"/>
              <a:t> e può essere condiviso in RAM tra più processi.</a:t>
            </a:r>
          </a:p>
          <a:p>
            <a:endParaRPr lang="it-IT" dirty="0"/>
          </a:p>
          <a:p>
            <a:r>
              <a:rPr lang="it-IT" dirty="0"/>
              <a:t>Si evita di caricare la stessa cosa più volte. Meno memoria occupata.</a:t>
            </a:r>
          </a:p>
        </p:txBody>
      </p:sp>
    </p:spTree>
    <p:extLst>
      <p:ext uri="{BB962C8B-B14F-4D97-AF65-F5344CB8AC3E}">
        <p14:creationId xmlns:p14="http://schemas.microsoft.com/office/powerpoint/2010/main" val="72211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646D60DC-1CB7-E286-A714-7F31E8488378}"/>
              </a:ext>
            </a:extLst>
          </p:cNvPr>
          <p:cNvSpPr txBox="1"/>
          <p:nvPr/>
        </p:nvSpPr>
        <p:spPr>
          <a:xfrm>
            <a:off x="338586" y="319980"/>
            <a:ext cx="6094562" cy="369332"/>
          </a:xfrm>
          <a:prstGeom prst="rect">
            <a:avLst/>
          </a:prstGeom>
          <a:noFill/>
        </p:spPr>
        <p:txBody>
          <a:bodyPr wrap="square">
            <a:spAutoFit/>
          </a:bodyPr>
          <a:lstStyle/>
          <a:p>
            <a:r>
              <a:rPr lang="it-IT" b="1" dirty="0"/>
              <a:t>Vantaggi principali della memoria virtuale (III)</a:t>
            </a:r>
          </a:p>
        </p:txBody>
      </p:sp>
      <p:sp>
        <p:nvSpPr>
          <p:cNvPr id="17" name="CasellaDiTesto 16">
            <a:extLst>
              <a:ext uri="{FF2B5EF4-FFF2-40B4-BE49-F238E27FC236}">
                <a16:creationId xmlns:a16="http://schemas.microsoft.com/office/drawing/2014/main" id="{ED44FE79-93BB-9A82-09DA-9147173098E9}"/>
              </a:ext>
            </a:extLst>
          </p:cNvPr>
          <p:cNvSpPr txBox="1"/>
          <p:nvPr/>
        </p:nvSpPr>
        <p:spPr>
          <a:xfrm>
            <a:off x="649137" y="825124"/>
            <a:ext cx="10056244" cy="2862322"/>
          </a:xfrm>
          <a:prstGeom prst="rect">
            <a:avLst/>
          </a:prstGeom>
          <a:noFill/>
        </p:spPr>
        <p:txBody>
          <a:bodyPr wrap="square">
            <a:spAutoFit/>
          </a:bodyPr>
          <a:lstStyle/>
          <a:p>
            <a:r>
              <a:rPr lang="it-IT" b="1" i="1" dirty="0"/>
              <a:t>5. Consumo RAM reale molto minore della memoria virtuale totale</a:t>
            </a:r>
            <a:endParaRPr lang="it-IT" b="1" dirty="0"/>
          </a:p>
          <a:p>
            <a:r>
              <a:rPr lang="it-IT" dirty="0"/>
              <a:t>Ogni processo può avere un proprio spazio di indirizzamento virtuale enorme (es. 128TB in sistemi a 64 bit), ma questo non significa occupare realmente quella memoria in RAM.</a:t>
            </a:r>
          </a:p>
          <a:p>
            <a:endParaRPr lang="it-IT" dirty="0"/>
          </a:p>
          <a:p>
            <a:r>
              <a:rPr lang="it-IT" dirty="0"/>
              <a:t>La RAM contiene solo pagine:</a:t>
            </a:r>
          </a:p>
          <a:p>
            <a:pPr marL="285750" indent="-285750">
              <a:buFont typeface="Arial" panose="020B0604020202020204" pitchFamily="34" charset="0"/>
              <a:buChar char="•"/>
            </a:pPr>
            <a:r>
              <a:rPr lang="it-IT" dirty="0"/>
              <a:t>realmente usate</a:t>
            </a:r>
          </a:p>
          <a:p>
            <a:pPr marL="285750" indent="-285750">
              <a:buFont typeface="Arial" panose="020B0604020202020204" pitchFamily="34" charset="0"/>
              <a:buChar char="•"/>
            </a:pPr>
            <a:r>
              <a:rPr lang="it-IT" dirty="0"/>
              <a:t>non spostate su disco</a:t>
            </a:r>
          </a:p>
          <a:p>
            <a:pPr marL="285750" indent="-285750">
              <a:buFont typeface="Arial" panose="020B0604020202020204" pitchFamily="34" charset="0"/>
              <a:buChar char="•"/>
            </a:pPr>
            <a:r>
              <a:rPr lang="it-IT" dirty="0"/>
              <a:t>non condivisibili</a:t>
            </a:r>
          </a:p>
          <a:p>
            <a:pPr>
              <a:buFont typeface="Arial" panose="020B0604020202020204" pitchFamily="34" charset="0"/>
              <a:buChar char="•"/>
            </a:pPr>
            <a:endParaRPr lang="it-IT" dirty="0"/>
          </a:p>
          <a:p>
            <a:r>
              <a:rPr lang="it-IT" dirty="0"/>
              <a:t>Il sistema può gestire più processi di quanti la RAM basterebbe in teoria.</a:t>
            </a:r>
          </a:p>
        </p:txBody>
      </p:sp>
      <p:graphicFrame>
        <p:nvGraphicFramePr>
          <p:cNvPr id="2" name="Tabella 1">
            <a:extLst>
              <a:ext uri="{FF2B5EF4-FFF2-40B4-BE49-F238E27FC236}">
                <a16:creationId xmlns:a16="http://schemas.microsoft.com/office/drawing/2014/main" id="{021D065B-3836-FCCE-9339-33A3D5904868}"/>
              </a:ext>
            </a:extLst>
          </p:cNvPr>
          <p:cNvGraphicFramePr>
            <a:graphicFrameLocks noGrp="1"/>
          </p:cNvGraphicFramePr>
          <p:nvPr>
            <p:extLst>
              <p:ext uri="{D42A27DB-BD31-4B8C-83A1-F6EECF244321}">
                <p14:modId xmlns:p14="http://schemas.microsoft.com/office/powerpoint/2010/main" val="2142374498"/>
              </p:ext>
            </p:extLst>
          </p:nvPr>
        </p:nvGraphicFramePr>
        <p:xfrm>
          <a:off x="743310" y="3823258"/>
          <a:ext cx="10515600" cy="2743200"/>
        </p:xfrm>
        <a:graphic>
          <a:graphicData uri="http://schemas.openxmlformats.org/drawingml/2006/table">
            <a:tbl>
              <a:tblPr/>
              <a:tblGrid>
                <a:gridCol w="3505200">
                  <a:extLst>
                    <a:ext uri="{9D8B030D-6E8A-4147-A177-3AD203B41FA5}">
                      <a16:colId xmlns:a16="http://schemas.microsoft.com/office/drawing/2014/main" val="1517221967"/>
                    </a:ext>
                  </a:extLst>
                </a:gridCol>
                <a:gridCol w="3505200">
                  <a:extLst>
                    <a:ext uri="{9D8B030D-6E8A-4147-A177-3AD203B41FA5}">
                      <a16:colId xmlns:a16="http://schemas.microsoft.com/office/drawing/2014/main" val="2105369392"/>
                    </a:ext>
                  </a:extLst>
                </a:gridCol>
                <a:gridCol w="3505200">
                  <a:extLst>
                    <a:ext uri="{9D8B030D-6E8A-4147-A177-3AD203B41FA5}">
                      <a16:colId xmlns:a16="http://schemas.microsoft.com/office/drawing/2014/main" val="1372730631"/>
                    </a:ext>
                  </a:extLst>
                </a:gridCol>
              </a:tblGrid>
              <a:tr h="0">
                <a:tc>
                  <a:txBody>
                    <a:bodyPr/>
                    <a:lstStyle/>
                    <a:p>
                      <a:r>
                        <a:rPr lang="it-IT" b="1"/>
                        <a:t>Caratteristica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it-IT" b="1" dirty="0"/>
                        <a:t>Funzionamento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it-IT" b="1" dirty="0"/>
                        <a:t>Vantaggio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68615327"/>
                  </a:ext>
                </a:extLst>
              </a:tr>
              <a:tr h="0">
                <a:tc>
                  <a:txBody>
                    <a:bodyPr/>
                    <a:lstStyle/>
                    <a:p>
                      <a:r>
                        <a:rPr lang="it-IT"/>
                        <a:t>Demand paging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Carica solo ciò che serve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Risparmio 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2965838"/>
                  </a:ext>
                </a:extLst>
              </a:tr>
              <a:tr h="0">
                <a:tc>
                  <a:txBody>
                    <a:bodyPr/>
                    <a:lstStyle/>
                    <a:p>
                      <a:r>
                        <a:rPr lang="it-IT"/>
                        <a:t>Swap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Sposta su disco ciò che non serve subito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Più processi attivi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2150"/>
                  </a:ext>
                </a:extLst>
              </a:tr>
              <a:tr h="0">
                <a:tc>
                  <a:txBody>
                    <a:bodyPr/>
                    <a:lstStyle/>
                    <a:p>
                      <a:r>
                        <a:rPr lang="it-IT"/>
                        <a:t>Copy-On-Write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Duplica solo se ci sono modifiche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Evita copie inutili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0669835"/>
                  </a:ext>
                </a:extLst>
              </a:tr>
              <a:tr h="0">
                <a:tc>
                  <a:txBody>
                    <a:bodyPr/>
                    <a:lstStyle/>
                    <a:p>
                      <a:r>
                        <a:rPr lang="it-IT"/>
                        <a:t>Codice condiviso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Stessa pagina codice usata da più processi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Meno duplicazioni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825286"/>
                  </a:ext>
                </a:extLst>
              </a:tr>
              <a:tr h="0">
                <a:tc>
                  <a:txBody>
                    <a:bodyPr/>
                    <a:lstStyle/>
                    <a:p>
                      <a:r>
                        <a:rPr lang="it-IT"/>
                        <a:t>Spazio virtuale &gt; 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a:t>Illusione di molta memoria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dirty="0"/>
                        <a:t>Flessibilità, scalabilità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0253069"/>
                  </a:ext>
                </a:extLst>
              </a:tr>
            </a:tbl>
          </a:graphicData>
        </a:graphic>
      </p:graphicFrame>
    </p:spTree>
    <p:extLst>
      <p:ext uri="{BB962C8B-B14F-4D97-AF65-F5344CB8AC3E}">
        <p14:creationId xmlns:p14="http://schemas.microsoft.com/office/powerpoint/2010/main" val="3594941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E5431CC2-56BB-2999-2625-D7CDD0E41717}"/>
              </a:ext>
            </a:extLst>
          </p:cNvPr>
          <p:cNvGraphicFramePr>
            <a:graphicFrameLocks noGrp="1"/>
          </p:cNvGraphicFramePr>
          <p:nvPr>
            <p:extLst>
              <p:ext uri="{D42A27DB-BD31-4B8C-83A1-F6EECF244321}">
                <p14:modId xmlns:p14="http://schemas.microsoft.com/office/powerpoint/2010/main" val="3285530912"/>
              </p:ext>
            </p:extLst>
          </p:nvPr>
        </p:nvGraphicFramePr>
        <p:xfrm>
          <a:off x="607290" y="2039769"/>
          <a:ext cx="10515600" cy="1463040"/>
        </p:xfrm>
        <a:graphic>
          <a:graphicData uri="http://schemas.openxmlformats.org/drawingml/2006/table">
            <a:tbl>
              <a:tblPr/>
              <a:tblGrid>
                <a:gridCol w="5257800">
                  <a:extLst>
                    <a:ext uri="{9D8B030D-6E8A-4147-A177-3AD203B41FA5}">
                      <a16:colId xmlns:a16="http://schemas.microsoft.com/office/drawing/2014/main" val="2369645566"/>
                    </a:ext>
                  </a:extLst>
                </a:gridCol>
                <a:gridCol w="5257800">
                  <a:extLst>
                    <a:ext uri="{9D8B030D-6E8A-4147-A177-3AD203B41FA5}">
                      <a16:colId xmlns:a16="http://schemas.microsoft.com/office/drawing/2014/main" val="2792118073"/>
                    </a:ext>
                  </a:extLst>
                </a:gridCol>
              </a:tblGrid>
              <a:tr h="0">
                <a:tc>
                  <a:txBody>
                    <a:bodyPr/>
                    <a:lstStyle/>
                    <a:p>
                      <a:r>
                        <a:rPr lang="it-IT" b="1" dirty="0"/>
                        <a:t>Sistema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it-IT" b="1" dirty="0"/>
                        <a:t>Strumento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993731167"/>
                  </a:ext>
                </a:extLst>
              </a:tr>
              <a:tr h="0">
                <a:tc>
                  <a:txBody>
                    <a:bodyPr/>
                    <a:lstStyle/>
                    <a:p>
                      <a:r>
                        <a:rPr lang="it-IT"/>
                        <a:t>Linux + macOS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dirty="0" err="1"/>
                        <a:t>ps</a:t>
                      </a:r>
                      <a:r>
                        <a:rPr lang="it-IT" dirty="0"/>
                        <a:t>,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5920668"/>
                  </a:ext>
                </a:extLst>
              </a:tr>
              <a:tr h="0">
                <a:tc>
                  <a:txBody>
                    <a:bodyPr/>
                    <a:lstStyle/>
                    <a:p>
                      <a:r>
                        <a:rPr lang="it-IT"/>
                        <a:t>macOS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dirty="0" err="1"/>
                        <a:t>vm_stat</a:t>
                      </a:r>
                      <a:r>
                        <a:rPr lang="it-IT" dirty="0"/>
                        <a:t>, </a:t>
                      </a:r>
                      <a:r>
                        <a:rPr lang="it-IT" dirty="0" err="1"/>
                        <a:t>vmmap</a:t>
                      </a:r>
                      <a:r>
                        <a:rPr lang="it-IT" dirty="0"/>
                        <a:t>, Monitoraggio Attività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8631803"/>
                  </a:ext>
                </a:extLst>
              </a:tr>
              <a:tr h="0">
                <a:tc>
                  <a:txBody>
                    <a:bodyPr/>
                    <a:lstStyle/>
                    <a:p>
                      <a:r>
                        <a:rPr lang="it-IT"/>
                        <a:t>Linux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vmstat</a:t>
                      </a:r>
                      <a:r>
                        <a:rPr lang="en-US" dirty="0"/>
                        <a:t>, free, </a:t>
                      </a:r>
                      <a:r>
                        <a:rPr lang="en-US" dirty="0" err="1"/>
                        <a:t>pmap</a:t>
                      </a:r>
                      <a:r>
                        <a:rPr lang="en-US" dirty="0"/>
                        <a:t>, /proc/[</a:t>
                      </a:r>
                      <a:r>
                        <a:rPr lang="en-US" dirty="0" err="1"/>
                        <a:t>pid</a:t>
                      </a:r>
                      <a:r>
                        <a:rPr lang="en-US" dirty="0"/>
                        <a:t>]/maps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367010"/>
                  </a:ext>
                </a:extLst>
              </a:tr>
            </a:tbl>
          </a:graphicData>
        </a:graphic>
      </p:graphicFrame>
      <p:sp>
        <p:nvSpPr>
          <p:cNvPr id="6" name="CasellaDiTesto 5">
            <a:extLst>
              <a:ext uri="{FF2B5EF4-FFF2-40B4-BE49-F238E27FC236}">
                <a16:creationId xmlns:a16="http://schemas.microsoft.com/office/drawing/2014/main" id="{8F372F48-483C-9C05-33E4-BE7E5516AE70}"/>
              </a:ext>
            </a:extLst>
          </p:cNvPr>
          <p:cNvSpPr txBox="1"/>
          <p:nvPr/>
        </p:nvSpPr>
        <p:spPr>
          <a:xfrm>
            <a:off x="484538" y="1019808"/>
            <a:ext cx="10271904" cy="646331"/>
          </a:xfrm>
          <a:prstGeom prst="rect">
            <a:avLst/>
          </a:prstGeom>
          <a:noFill/>
        </p:spPr>
        <p:txBody>
          <a:bodyPr wrap="square">
            <a:spAutoFit/>
          </a:bodyPr>
          <a:lstStyle/>
          <a:p>
            <a:r>
              <a:rPr lang="it-IT" dirty="0"/>
              <a:t>Questi strumenti ci permettono di osservare in tempo reale l’uso della memoria da parte del sistema e dei processi. Le nomenclature non sempre coincidono tra sistemi diversi.</a:t>
            </a:r>
          </a:p>
        </p:txBody>
      </p:sp>
      <p:sp>
        <p:nvSpPr>
          <p:cNvPr id="8" name="CasellaDiTesto 7">
            <a:extLst>
              <a:ext uri="{FF2B5EF4-FFF2-40B4-BE49-F238E27FC236}">
                <a16:creationId xmlns:a16="http://schemas.microsoft.com/office/drawing/2014/main" id="{D86AAEDF-EE86-73CD-F359-7D6E70528257}"/>
              </a:ext>
            </a:extLst>
          </p:cNvPr>
          <p:cNvSpPr txBox="1"/>
          <p:nvPr/>
        </p:nvSpPr>
        <p:spPr>
          <a:xfrm>
            <a:off x="364466" y="276847"/>
            <a:ext cx="6094562" cy="369332"/>
          </a:xfrm>
          <a:prstGeom prst="rect">
            <a:avLst/>
          </a:prstGeom>
          <a:noFill/>
        </p:spPr>
        <p:txBody>
          <a:bodyPr wrap="square">
            <a:spAutoFit/>
          </a:bodyPr>
          <a:lstStyle/>
          <a:p>
            <a:r>
              <a:rPr lang="it-IT" b="1" dirty="0"/>
              <a:t>Strumenti di monitoraggio</a:t>
            </a:r>
          </a:p>
        </p:txBody>
      </p:sp>
      <p:sp>
        <p:nvSpPr>
          <p:cNvPr id="3" name="CasellaDiTesto 2">
            <a:extLst>
              <a:ext uri="{FF2B5EF4-FFF2-40B4-BE49-F238E27FC236}">
                <a16:creationId xmlns:a16="http://schemas.microsoft.com/office/drawing/2014/main" id="{7F3ADBA8-FB5A-D347-8F76-171B14F6F852}"/>
              </a:ext>
            </a:extLst>
          </p:cNvPr>
          <p:cNvSpPr txBox="1"/>
          <p:nvPr/>
        </p:nvSpPr>
        <p:spPr>
          <a:xfrm>
            <a:off x="813038" y="4313056"/>
            <a:ext cx="9210855" cy="646331"/>
          </a:xfrm>
          <a:prstGeom prst="rect">
            <a:avLst/>
          </a:prstGeom>
          <a:noFill/>
        </p:spPr>
        <p:txBody>
          <a:bodyPr wrap="square">
            <a:spAutoFit/>
          </a:bodyPr>
          <a:lstStyle/>
          <a:p>
            <a:r>
              <a:rPr lang="it-IT" b="1" i="1" dirty="0"/>
              <a:t>"The </a:t>
            </a:r>
            <a:r>
              <a:rPr lang="it-IT" b="1" i="1" dirty="0" err="1"/>
              <a:t>memory</a:t>
            </a:r>
            <a:r>
              <a:rPr lang="it-IT" b="1" i="1" dirty="0"/>
              <a:t> managers of Linux and Mac OS X are </a:t>
            </a:r>
            <a:r>
              <a:rPr lang="it-IT" b="1" i="1" dirty="0" err="1"/>
              <a:t>complex</a:t>
            </a:r>
            <a:r>
              <a:rPr lang="it-IT" b="1" i="1" dirty="0"/>
              <a:t> </a:t>
            </a:r>
            <a:r>
              <a:rPr lang="it-IT" b="1" i="1" dirty="0" err="1"/>
              <a:t>beasts</a:t>
            </a:r>
            <a:r>
              <a:rPr lang="it-IT" b="1" i="1" dirty="0"/>
              <a:t>, and working out the </a:t>
            </a:r>
            <a:r>
              <a:rPr lang="it-IT" b="1" i="1" dirty="0" err="1"/>
              <a:t>memory</a:t>
            </a:r>
            <a:r>
              <a:rPr lang="it-IT" b="1" i="1" dirty="0"/>
              <a:t> </a:t>
            </a:r>
            <a:r>
              <a:rPr lang="it-IT" b="1" i="1" dirty="0" err="1"/>
              <a:t>usage</a:t>
            </a:r>
            <a:r>
              <a:rPr lang="it-IT" b="1" i="1" dirty="0"/>
              <a:t> of a </a:t>
            </a:r>
            <a:r>
              <a:rPr lang="it-IT" b="1" i="1" dirty="0" err="1"/>
              <a:t>process</a:t>
            </a:r>
            <a:r>
              <a:rPr lang="it-IT" b="1" i="1" dirty="0"/>
              <a:t> </a:t>
            </a:r>
            <a:r>
              <a:rPr lang="it-IT" b="1" i="1" dirty="0" err="1"/>
              <a:t>is</a:t>
            </a:r>
            <a:r>
              <a:rPr lang="it-IT" b="1" i="1" dirty="0"/>
              <a:t> a black art."</a:t>
            </a:r>
          </a:p>
        </p:txBody>
      </p:sp>
      <p:sp>
        <p:nvSpPr>
          <p:cNvPr id="7" name="CasellaDiTesto 6">
            <a:extLst>
              <a:ext uri="{FF2B5EF4-FFF2-40B4-BE49-F238E27FC236}">
                <a16:creationId xmlns:a16="http://schemas.microsoft.com/office/drawing/2014/main" id="{4613004C-84EC-A15F-B53C-AB8B9E3DEE6A}"/>
              </a:ext>
            </a:extLst>
          </p:cNvPr>
          <p:cNvSpPr txBox="1"/>
          <p:nvPr/>
        </p:nvSpPr>
        <p:spPr>
          <a:xfrm>
            <a:off x="813038" y="5038152"/>
            <a:ext cx="6094562" cy="276999"/>
          </a:xfrm>
          <a:prstGeom prst="rect">
            <a:avLst/>
          </a:prstGeom>
          <a:noFill/>
        </p:spPr>
        <p:txBody>
          <a:bodyPr wrap="square">
            <a:spAutoFit/>
          </a:bodyPr>
          <a:lstStyle/>
          <a:p>
            <a:r>
              <a:rPr lang="it-IT" sz="1200" dirty="0"/>
              <a:t>http://stackoverflow.com/questions/26377566/node-js-memory-jch</a:t>
            </a:r>
          </a:p>
        </p:txBody>
      </p:sp>
    </p:spTree>
    <p:extLst>
      <p:ext uri="{BB962C8B-B14F-4D97-AF65-F5344CB8AC3E}">
        <p14:creationId xmlns:p14="http://schemas.microsoft.com/office/powerpoint/2010/main" val="230692645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1135</Words>
  <Application>Microsoft Office PowerPoint</Application>
  <PresentationFormat>Widescreen</PresentationFormat>
  <Paragraphs>140</Paragraphs>
  <Slides>11</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11</vt:i4>
      </vt:variant>
    </vt:vector>
  </HeadingPairs>
  <TitlesOfParts>
    <vt:vector size="16" baseType="lpstr">
      <vt:lpstr>Aptos</vt:lpstr>
      <vt:lpstr>Aptos Display</vt:lpstr>
      <vt:lpstr>Arial</vt:lpstr>
      <vt:lpstr>Courier New</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Andrea11</dc:creator>
  <cp:lastModifiedBy>Andrea11</cp:lastModifiedBy>
  <cp:revision>8</cp:revision>
  <dcterms:created xsi:type="dcterms:W3CDTF">2025-12-01T20:25:10Z</dcterms:created>
  <dcterms:modified xsi:type="dcterms:W3CDTF">2025-12-03T09:49:37Z</dcterms:modified>
</cp:coreProperties>
</file>